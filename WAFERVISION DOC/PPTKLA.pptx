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7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5039A6-F36D-40EC-9C40-978F7891C0D3}" v="2" dt="2026-07-23T09:22:50.497"/>
    <p1510:client id="{99BAD0F8-86B1-4B0E-B507-B635FB6532E1}" v="1" dt="2026-07-24T04:49:31.7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20" autoAdjust="0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36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829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0">
            <a:extLst>
              <a:ext uri="{FF2B5EF4-FFF2-40B4-BE49-F238E27FC236}">
                <a16:creationId xmlns:a16="http://schemas.microsoft.com/office/drawing/2014/main" id="{2BD26DD0-A441-CDA1-C7C4-500C0B482AE4}"/>
              </a:ext>
            </a:extLst>
          </p:cNvPr>
          <p:cNvSpPr/>
          <p:nvPr userDrawn="1"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0" descr="preencoded.png">
            <a:extLst>
              <a:ext uri="{FF2B5EF4-FFF2-40B4-BE49-F238E27FC236}">
                <a16:creationId xmlns:a16="http://schemas.microsoft.com/office/drawing/2014/main" id="{9C02DD19-DD7E-1634-0056-B0B673F640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5" name="Shape 1">
            <a:extLst>
              <a:ext uri="{FF2B5EF4-FFF2-40B4-BE49-F238E27FC236}">
                <a16:creationId xmlns:a16="http://schemas.microsoft.com/office/drawing/2014/main" id="{2896CD82-D6A3-3A0B-5BEE-489BF15E90F1}"/>
              </a:ext>
            </a:extLst>
          </p:cNvPr>
          <p:cNvSpPr/>
          <p:nvPr userDrawn="1"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7" name="Image 2" descr="preencoded.png">
            <a:extLst>
              <a:ext uri="{FF2B5EF4-FFF2-40B4-BE49-F238E27FC236}">
                <a16:creationId xmlns:a16="http://schemas.microsoft.com/office/drawing/2014/main" id="{FE4B1F73-561B-DEF0-4566-CD62949472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pic>
        <p:nvPicPr>
          <p:cNvPr id="282" name="Picture 281">
            <a:extLst>
              <a:ext uri="{FF2B5EF4-FFF2-40B4-BE49-F238E27FC236}">
                <a16:creationId xmlns:a16="http://schemas.microsoft.com/office/drawing/2014/main" id="{BD66A30C-A2DE-61B6-8B7B-4CF622680E5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58356" y="381305"/>
            <a:ext cx="5745480" cy="46736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.png"/><Relationship Id="rId4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2.png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.png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.png"/><Relationship Id="rId10" Type="http://schemas.openxmlformats.org/officeDocument/2006/relationships/image" Target="../media/image6.png"/><Relationship Id="rId4" Type="http://schemas.openxmlformats.org/officeDocument/2006/relationships/image" Target="../media/image13.jpe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jpe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6.png"/><Relationship Id="rId5" Type="http://schemas.openxmlformats.org/officeDocument/2006/relationships/image" Target="../media/image2.png"/><Relationship Id="rId10" Type="http://schemas.openxmlformats.org/officeDocument/2006/relationships/image" Target="../media/image12.png"/><Relationship Id="rId4" Type="http://schemas.openxmlformats.org/officeDocument/2006/relationships/image" Target="../media/image13.jpeg"/><Relationship Id="rId9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image" Target="../media/image1.jpeg"/><Relationship Id="rId7" Type="http://schemas.openxmlformats.org/officeDocument/2006/relationships/image" Target="../media/image24.png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12.png"/><Relationship Id="rId5" Type="http://schemas.openxmlformats.org/officeDocument/2006/relationships/image" Target="../media/image2.png"/><Relationship Id="rId10" Type="http://schemas.openxmlformats.org/officeDocument/2006/relationships/image" Target="../media/image26.png"/><Relationship Id="rId4" Type="http://schemas.openxmlformats.org/officeDocument/2006/relationships/image" Target="../media/image13.jpeg"/><Relationship Id="rId9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jpe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.png"/><Relationship Id="rId4" Type="http://schemas.openxmlformats.org/officeDocument/2006/relationships/image" Target="../media/image13.jpe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rcRect l="12327" r="12327"/>
          <a:stretch/>
        </p:blipFill>
        <p:spPr>
          <a:xfrm>
            <a:off x="0" y="0"/>
            <a:ext cx="12191695" cy="72923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381305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2"/>
          <p:cNvSpPr/>
          <p:nvPr/>
        </p:nvSpPr>
        <p:spPr>
          <a:xfrm>
            <a:off x="571500" y="2394815"/>
            <a:ext cx="11048695" cy="4362602"/>
          </a:xfrm>
          <a:prstGeom prst="roundRect">
            <a:avLst>
              <a:gd name="adj" fmla="val 73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AEFF8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3"/>
          <p:cNvSpPr/>
          <p:nvPr/>
        </p:nvSpPr>
        <p:spPr>
          <a:xfrm>
            <a:off x="961949" y="3439058"/>
            <a:ext cx="10267798" cy="9144"/>
          </a:xfrm>
          <a:prstGeom prst="rect">
            <a:avLst/>
          </a:prstGeom>
          <a:solidFill>
            <a:srgbClr val="4B55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4"/>
          <p:cNvSpPr/>
          <p:nvPr/>
        </p:nvSpPr>
        <p:spPr>
          <a:xfrm>
            <a:off x="961949" y="5721401"/>
            <a:ext cx="10267798" cy="875995"/>
          </a:xfrm>
          <a:prstGeom prst="rect">
            <a:avLst/>
          </a:prstGeom>
          <a:solidFill>
            <a:srgbClr val="273383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961949" y="5721401"/>
            <a:ext cx="38405" cy="875995"/>
          </a:xfrm>
          <a:prstGeom prst="rect">
            <a:avLst/>
          </a:prstGeom>
          <a:solidFill>
            <a:srgbClr val="AEFF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rcRect l="-2838" r="-2838"/>
          <a:stretch/>
        </p:blipFill>
        <p:spPr>
          <a:xfrm>
            <a:off x="3902659" y="7321601"/>
            <a:ext cx="123444" cy="133502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571500" y="1429207"/>
            <a:ext cx="6229807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Hackathon 2026</a:t>
            </a:r>
            <a:endParaRPr lang="en-US" sz="3600" dirty="0"/>
          </a:p>
        </p:txBody>
      </p:sp>
      <p:sp>
        <p:nvSpPr>
          <p:cNvPr id="13" name="Text 7"/>
          <p:cNvSpPr txBox="1"/>
          <p:nvPr/>
        </p:nvSpPr>
        <p:spPr>
          <a:xfrm>
            <a:off x="571500" y="2018995"/>
            <a:ext cx="409102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Idea Submission Template</a:t>
            </a:r>
            <a:endParaRPr lang="en-US" sz="2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61949" y="3047695"/>
            <a:ext cx="228600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304849" y="3010205"/>
            <a:ext cx="6336922" cy="201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Instructions </a:t>
            </a:r>
            <a:r>
              <a:rPr lang="en-US" sz="12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(Remove this slide while submitting)</a:t>
            </a:r>
            <a:endParaRPr lang="en-US" sz="1800" i="1" dirty="0"/>
          </a:p>
        </p:txBody>
      </p:sp>
      <p:sp>
        <p:nvSpPr>
          <p:cNvPr id="16" name="Text 9"/>
          <p:cNvSpPr txBox="1"/>
          <p:nvPr/>
        </p:nvSpPr>
        <p:spPr>
          <a:xfrm>
            <a:off x="1190549" y="5911596"/>
            <a:ext cx="19961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 NAMING CONVENTION</a:t>
            </a:r>
            <a:endParaRPr lang="en-US" sz="1000" dirty="0"/>
          </a:p>
        </p:txBody>
      </p:sp>
      <p:sp>
        <p:nvSpPr>
          <p:cNvPr id="17" name="Text 10"/>
          <p:cNvSpPr txBox="1"/>
          <p:nvPr/>
        </p:nvSpPr>
        <p:spPr>
          <a:xfrm>
            <a:off x="1190549" y="6159398"/>
            <a:ext cx="35817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EFF8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Team Name_PSNo (E.g. i4C_PS01)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3674059" y="7216445"/>
            <a:ext cx="4848149" cy="342900"/>
          </a:xfrm>
          <a:prstGeom prst="roundRect">
            <a:avLst>
              <a:gd name="adj" fmla="val 266667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2"/>
          <p:cNvSpPr txBox="1"/>
          <p:nvPr/>
        </p:nvSpPr>
        <p:spPr>
          <a:xfrm>
            <a:off x="4102913" y="7292340"/>
            <a:ext cx="42912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REMOVE THIS SLIDE FOR INSTRUCTIONS IN FINAL SUBMISSION</a:t>
            </a:r>
            <a:endParaRPr lang="en-US" sz="1000" dirty="0"/>
          </a:p>
        </p:txBody>
      </p:sp>
      <p:sp>
        <p:nvSpPr>
          <p:cNvPr id="20" name="Text 13"/>
          <p:cNvSpPr txBox="1"/>
          <p:nvPr/>
        </p:nvSpPr>
        <p:spPr>
          <a:xfrm>
            <a:off x="961948" y="4286354"/>
            <a:ext cx="10267798" cy="1344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Prepare the solution document as per this template, feel free to modify layouts while keeping core content 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Kindly keep the maximum slides limit up to six (6-7). ( Including the title slide) 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Try to avoid paragraphs and post your idea in points /diagrams / Infographics /pictures 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can only use provided template for making the PPT without changing the idea details pointers (mentioned in previous slides).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need to save the file in PDF and upload the same on portal. No PPT, Word Doc or any other format will be supported.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E0E0E0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E0E0E0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3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B4234F-3583-BFF9-C279-17614D0CF4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511607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143000"/>
            <a:ext cx="47549" cy="276149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3"/>
          <p:cNvSpPr/>
          <p:nvPr/>
        </p:nvSpPr>
        <p:spPr>
          <a:xfrm>
            <a:off x="9182405" y="1170432"/>
            <a:ext cx="2438705" cy="362102"/>
          </a:xfrm>
          <a:prstGeom prst="roundRect">
            <a:avLst>
              <a:gd name="adj" fmla="val 2658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4"/>
          <p:cNvSpPr/>
          <p:nvPr/>
        </p:nvSpPr>
        <p:spPr>
          <a:xfrm>
            <a:off x="571500" y="1712671"/>
            <a:ext cx="11048695" cy="2171700"/>
          </a:xfrm>
          <a:prstGeom prst="roundRect">
            <a:avLst>
              <a:gd name="adj" fmla="val 2216"/>
            </a:avLst>
          </a:prstGeom>
          <a:solidFill>
            <a:srgbClr val="273383">
              <a:alpha val="3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  <a:effectLst>
            <a:outerShdw blurRad="190500" dist="1016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80644" y="1721815"/>
            <a:ext cx="110459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684325" y="1721815"/>
            <a:ext cx="221010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3889858" y="1721815"/>
            <a:ext cx="441929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8301838" y="1721815"/>
            <a:ext cx="3314700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580644" y="2604211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1684325" y="2604211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3889858" y="2604211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8301838" y="2604211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580644" y="2606954"/>
            <a:ext cx="11030407" cy="4572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580644" y="3055010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1684325" y="3055010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3889858" y="3055010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8301838" y="3055010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580644" y="3510382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1684325" y="3510382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3889858" y="3510382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8301838" y="3510382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2"/>
          <p:cNvSpPr/>
          <p:nvPr/>
        </p:nvSpPr>
        <p:spPr>
          <a:xfrm>
            <a:off x="580644" y="3517697"/>
            <a:ext cx="11030407" cy="4572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1500" y="4151376"/>
            <a:ext cx="133502" cy="13350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80898" y="4120286"/>
            <a:ext cx="55741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team can have up to 4 members including the team leader. Add rows if necessary.</a:t>
            </a:r>
            <a:endParaRPr lang="en-US" sz="1000" b="1" dirty="0"/>
          </a:p>
        </p:txBody>
      </p:sp>
      <p:sp>
        <p:nvSpPr>
          <p:cNvPr id="30" name="Shape 24"/>
          <p:cNvSpPr/>
          <p:nvPr/>
        </p:nvSpPr>
        <p:spPr>
          <a:xfrm>
            <a:off x="571500" y="4543654"/>
            <a:ext cx="11048695" cy="2029054"/>
          </a:xfrm>
          <a:prstGeom prst="roundRect">
            <a:avLst>
              <a:gd name="adj" fmla="val 253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5"/>
          <p:cNvSpPr/>
          <p:nvPr/>
        </p:nvSpPr>
        <p:spPr>
          <a:xfrm>
            <a:off x="771754" y="5048402"/>
            <a:ext cx="10649102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r>
              <a:rPr lang="en-IN" dirty="0" err="1"/>
              <a:t>Eawari</a:t>
            </a:r>
            <a:r>
              <a:rPr lang="en-IN" dirty="0"/>
              <a:t> Engineering College</a:t>
            </a:r>
          </a:p>
        </p:txBody>
      </p:sp>
      <p:sp>
        <p:nvSpPr>
          <p:cNvPr id="32" name="Shape 26"/>
          <p:cNvSpPr/>
          <p:nvPr/>
        </p:nvSpPr>
        <p:spPr>
          <a:xfrm>
            <a:off x="771754" y="5934456"/>
            <a:ext cx="5229454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7"/>
          <p:cNvSpPr/>
          <p:nvPr/>
        </p:nvSpPr>
        <p:spPr>
          <a:xfrm>
            <a:off x="6191402" y="5934456"/>
            <a:ext cx="5229454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8"/>
          <p:cNvSpPr txBox="1"/>
          <p:nvPr/>
        </p:nvSpPr>
        <p:spPr>
          <a:xfrm>
            <a:off x="761695" y="1086307"/>
            <a:ext cx="205374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Details</a:t>
            </a:r>
            <a:endParaRPr lang="en-US" sz="2100" dirty="0"/>
          </a:p>
        </p:txBody>
      </p:sp>
      <p:sp>
        <p:nvSpPr>
          <p:cNvPr id="35" name="Text 29"/>
          <p:cNvSpPr txBox="1"/>
          <p:nvPr/>
        </p:nvSpPr>
        <p:spPr>
          <a:xfrm>
            <a:off x="8076895" y="1237183"/>
            <a:ext cx="11055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Name: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771754" y="1836115"/>
            <a:ext cx="59893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SR. NO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1874520" y="1836115"/>
            <a:ext cx="465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4080053" y="1836115"/>
            <a:ext cx="53218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NAME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8492033" y="1836115"/>
            <a:ext cx="13130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ACADEMIC YEAR</a:t>
            </a:r>
            <a:endParaRPr lang="en-US" sz="1000" dirty="0"/>
          </a:p>
        </p:txBody>
      </p:sp>
      <p:sp>
        <p:nvSpPr>
          <p:cNvPr id="40" name="Text 34"/>
          <p:cNvSpPr txBox="1"/>
          <p:nvPr/>
        </p:nvSpPr>
        <p:spPr>
          <a:xfrm>
            <a:off x="771754" y="2270455"/>
            <a:ext cx="1563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100" dirty="0"/>
          </a:p>
        </p:txBody>
      </p:sp>
      <p:sp>
        <p:nvSpPr>
          <p:cNvPr id="41" name="Text 35"/>
          <p:cNvSpPr txBox="1"/>
          <p:nvPr/>
        </p:nvSpPr>
        <p:spPr>
          <a:xfrm>
            <a:off x="1874520" y="2270455"/>
            <a:ext cx="10707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</a:t>
            </a:r>
            <a:endParaRPr lang="en-US" sz="1100" dirty="0"/>
          </a:p>
        </p:txBody>
      </p:sp>
      <p:sp>
        <p:nvSpPr>
          <p:cNvPr id="42" name="Text 36"/>
          <p:cNvSpPr txBox="1"/>
          <p:nvPr/>
        </p:nvSpPr>
        <p:spPr>
          <a:xfrm>
            <a:off x="771754" y="2725826"/>
            <a:ext cx="1947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 dirty="0"/>
          </a:p>
        </p:txBody>
      </p:sp>
      <p:sp>
        <p:nvSpPr>
          <p:cNvPr id="43" name="Text 37"/>
          <p:cNvSpPr txBox="1"/>
          <p:nvPr/>
        </p:nvSpPr>
        <p:spPr>
          <a:xfrm>
            <a:off x="1874520" y="2725826"/>
            <a:ext cx="8046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1</a:t>
            </a:r>
            <a:endParaRPr lang="en-US" sz="1100" dirty="0"/>
          </a:p>
        </p:txBody>
      </p:sp>
      <p:sp>
        <p:nvSpPr>
          <p:cNvPr id="44" name="Text 38"/>
          <p:cNvSpPr txBox="1"/>
          <p:nvPr/>
        </p:nvSpPr>
        <p:spPr>
          <a:xfrm>
            <a:off x="771754" y="3181198"/>
            <a:ext cx="1947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100" dirty="0"/>
          </a:p>
        </p:txBody>
      </p:sp>
      <p:sp>
        <p:nvSpPr>
          <p:cNvPr id="45" name="Text 39"/>
          <p:cNvSpPr txBox="1"/>
          <p:nvPr/>
        </p:nvSpPr>
        <p:spPr>
          <a:xfrm>
            <a:off x="1874520" y="3181198"/>
            <a:ext cx="8421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2</a:t>
            </a:r>
            <a:endParaRPr lang="en-US" sz="1100" dirty="0"/>
          </a:p>
        </p:txBody>
      </p:sp>
      <p:sp>
        <p:nvSpPr>
          <p:cNvPr id="46" name="Text 40"/>
          <p:cNvSpPr txBox="1"/>
          <p:nvPr/>
        </p:nvSpPr>
        <p:spPr>
          <a:xfrm>
            <a:off x="771754" y="3636569"/>
            <a:ext cx="2039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100" dirty="0"/>
          </a:p>
        </p:txBody>
      </p:sp>
      <p:sp>
        <p:nvSpPr>
          <p:cNvPr id="47" name="Text 41"/>
          <p:cNvSpPr txBox="1"/>
          <p:nvPr/>
        </p:nvSpPr>
        <p:spPr>
          <a:xfrm>
            <a:off x="1874520" y="3636569"/>
            <a:ext cx="8421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3</a:t>
            </a:r>
            <a:endParaRPr lang="en-US" sz="1100" dirty="0"/>
          </a:p>
        </p:txBody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 r:embed="rId5"/>
          <a:srcRect l="-2994" r="-2994"/>
          <a:stretch/>
        </p:blipFill>
        <p:spPr>
          <a:xfrm>
            <a:off x="771754" y="4772254"/>
            <a:ext cx="161849" cy="152705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1009498" y="4743907"/>
            <a:ext cx="13432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COLLEGE NAME</a:t>
            </a:r>
            <a:endParaRPr lang="en-US" sz="1200" dirty="0"/>
          </a:p>
        </p:txBody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6"/>
          <a:srcRect l="-2994" r="-2994"/>
          <a:stretch/>
        </p:blipFill>
        <p:spPr>
          <a:xfrm>
            <a:off x="771754" y="5658307"/>
            <a:ext cx="161849" cy="152705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1009498" y="5629046"/>
            <a:ext cx="27724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 CONTACT NUMBER</a:t>
            </a:r>
            <a:endParaRPr lang="en-US" sz="1200" dirty="0"/>
          </a:p>
        </p:txBody>
      </p:sp>
      <p:pic>
        <p:nvPicPr>
          <p:cNvPr id="52" name="Image 6" descr="preencoded.png"/>
          <p:cNvPicPr>
            <a:picLocks noChangeAspect="1"/>
          </p:cNvPicPr>
          <p:nvPr/>
        </p:nvPicPr>
        <p:blipFill>
          <a:blip r:embed="rId7"/>
          <a:srcRect l="-2994" r="-2994"/>
          <a:stretch/>
        </p:blipFill>
        <p:spPr>
          <a:xfrm>
            <a:off x="6191402" y="5658307"/>
            <a:ext cx="161849" cy="152705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6429146" y="562904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 EMAIL ADDRESS</a:t>
            </a:r>
            <a:endParaRPr lang="en-US" sz="1200" dirty="0"/>
          </a:p>
        </p:txBody>
      </p:sp>
      <p:sp>
        <p:nvSpPr>
          <p:cNvPr id="54" name="Text 45"/>
          <p:cNvSpPr txBox="1"/>
          <p:nvPr/>
        </p:nvSpPr>
        <p:spPr>
          <a:xfrm>
            <a:off x="9344254" y="1256386"/>
            <a:ext cx="17199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Enter Team Name Here...</a:t>
            </a:r>
            <a:endParaRPr lang="en-US" sz="1000" dirty="0"/>
          </a:p>
        </p:txBody>
      </p:sp>
      <p:sp>
        <p:nvSpPr>
          <p:cNvPr id="55" name="Text 46"/>
          <p:cNvSpPr txBox="1"/>
          <p:nvPr/>
        </p:nvSpPr>
        <p:spPr>
          <a:xfrm>
            <a:off x="4080053" y="2270455"/>
            <a:ext cx="1251072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Ramakrishnan K</a:t>
            </a:r>
            <a:endParaRPr lang="en-US" sz="1100" dirty="0"/>
          </a:p>
        </p:txBody>
      </p:sp>
      <p:sp>
        <p:nvSpPr>
          <p:cNvPr id="56" name="Text 47"/>
          <p:cNvSpPr txBox="1"/>
          <p:nvPr/>
        </p:nvSpPr>
        <p:spPr>
          <a:xfrm>
            <a:off x="8492033" y="2270455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{Enter Year}</a:t>
            </a:r>
            <a:endParaRPr lang="en-US" sz="1100" dirty="0"/>
          </a:p>
        </p:txBody>
      </p:sp>
      <p:sp>
        <p:nvSpPr>
          <p:cNvPr id="57" name="Text 48"/>
          <p:cNvSpPr txBox="1"/>
          <p:nvPr/>
        </p:nvSpPr>
        <p:spPr>
          <a:xfrm>
            <a:off x="4080053" y="2725826"/>
            <a:ext cx="125107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Sanjay Kumar S</a:t>
            </a:r>
            <a:endParaRPr lang="en-US" sz="1100" dirty="0"/>
          </a:p>
        </p:txBody>
      </p:sp>
      <p:sp>
        <p:nvSpPr>
          <p:cNvPr id="58" name="Text 49"/>
          <p:cNvSpPr txBox="1"/>
          <p:nvPr/>
        </p:nvSpPr>
        <p:spPr>
          <a:xfrm>
            <a:off x="8492033" y="2725826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{Enter Year}</a:t>
            </a:r>
            <a:endParaRPr lang="en-US" sz="1100" dirty="0"/>
          </a:p>
        </p:txBody>
      </p:sp>
      <p:sp>
        <p:nvSpPr>
          <p:cNvPr id="59" name="Text 50"/>
          <p:cNvSpPr txBox="1"/>
          <p:nvPr/>
        </p:nvSpPr>
        <p:spPr>
          <a:xfrm>
            <a:off x="4080053" y="3181198"/>
            <a:ext cx="1089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Sam Antony S</a:t>
            </a:r>
            <a:endParaRPr lang="en-US" sz="1100" dirty="0"/>
          </a:p>
        </p:txBody>
      </p:sp>
      <p:sp>
        <p:nvSpPr>
          <p:cNvPr id="60" name="Text 51"/>
          <p:cNvSpPr txBox="1"/>
          <p:nvPr/>
        </p:nvSpPr>
        <p:spPr>
          <a:xfrm>
            <a:off x="8492033" y="3181198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{Enter Year}</a:t>
            </a:r>
            <a:endParaRPr lang="en-US" sz="1100" dirty="0"/>
          </a:p>
        </p:txBody>
      </p:sp>
      <p:sp>
        <p:nvSpPr>
          <p:cNvPr id="61" name="Text 52"/>
          <p:cNvSpPr txBox="1"/>
          <p:nvPr/>
        </p:nvSpPr>
        <p:spPr>
          <a:xfrm>
            <a:off x="4080053" y="3636569"/>
            <a:ext cx="1089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Praveen G</a:t>
            </a:r>
            <a:endParaRPr lang="en-US" sz="1100" dirty="0"/>
          </a:p>
        </p:txBody>
      </p:sp>
      <p:sp>
        <p:nvSpPr>
          <p:cNvPr id="62" name="Text 53"/>
          <p:cNvSpPr txBox="1"/>
          <p:nvPr/>
        </p:nvSpPr>
        <p:spPr>
          <a:xfrm>
            <a:off x="8492033" y="3636569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{Enter Year}</a:t>
            </a:r>
            <a:endParaRPr lang="en-US" sz="1100" dirty="0"/>
          </a:p>
        </p:txBody>
      </p:sp>
      <p:sp>
        <p:nvSpPr>
          <p:cNvPr id="64" name="Text 55"/>
          <p:cNvSpPr txBox="1"/>
          <p:nvPr/>
        </p:nvSpPr>
        <p:spPr>
          <a:xfrm>
            <a:off x="923544" y="6038698"/>
            <a:ext cx="15343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+91 9600522059</a:t>
            </a:r>
            <a:endParaRPr lang="en-US" sz="1200" dirty="0"/>
          </a:p>
        </p:txBody>
      </p:sp>
      <p:sp>
        <p:nvSpPr>
          <p:cNvPr id="65" name="Text 56"/>
          <p:cNvSpPr txBox="1"/>
          <p:nvPr/>
        </p:nvSpPr>
        <p:spPr>
          <a:xfrm>
            <a:off x="6344107" y="6038698"/>
            <a:ext cx="28382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ramakrishnan1271@gmail.com</a:t>
            </a:r>
            <a:endParaRPr lang="en-US" sz="1200" dirty="0"/>
          </a:p>
        </p:txBody>
      </p:sp>
      <p:sp>
        <p:nvSpPr>
          <p:cNvPr id="70" name="Shape 1">
            <a:extLst>
              <a:ext uri="{FF2B5EF4-FFF2-40B4-BE49-F238E27FC236}">
                <a16:creationId xmlns:a16="http://schemas.microsoft.com/office/drawing/2014/main" id="{780937B3-EB04-4CBA-C636-AF115BC1E358}"/>
              </a:ext>
            </a:extLst>
          </p:cNvPr>
          <p:cNvSpPr/>
          <p:nvPr/>
        </p:nvSpPr>
        <p:spPr>
          <a:xfrm>
            <a:off x="562356" y="13807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67FE6B-8CE4-2744-DE3C-E456350E62E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957" y="27370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554766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Statement Addressed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33856" y="258318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262579"/>
            <a:ext cx="706061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dirty="0">
                <a:solidFill>
                  <a:srgbClr val="00B050"/>
                </a:solidFill>
              </a:rPr>
              <a:t>AI-Based Restoration of Degraded Images for Semiconductor Inspection</a:t>
            </a:r>
            <a:endParaRPr lang="en-US" sz="1800" dirty="0">
              <a:solidFill>
                <a:srgbClr val="00B050"/>
              </a:solidFill>
            </a:endParaRPr>
          </a:p>
        </p:txBody>
      </p:sp>
      <p:sp>
        <p:nvSpPr>
          <p:cNvPr id="17" name="Shape 11"/>
          <p:cNvSpPr/>
          <p:nvPr/>
        </p:nvSpPr>
        <p:spPr>
          <a:xfrm>
            <a:off x="961949" y="3768242"/>
            <a:ext cx="10373160" cy="1794054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200607" y="4006901"/>
            <a:ext cx="1690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DESCRIPTION / DETAILS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200607" y="4283050"/>
            <a:ext cx="8968435" cy="1151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chemeClr val="bg1"/>
                </a:solidFill>
              </a:rPr>
              <a:t>&gt;Noise and lower spatial resolution can mar images of semiconductors.</a:t>
            </a:r>
          </a:p>
          <a:p>
            <a:r>
              <a:rPr lang="en-US" sz="1300" dirty="0">
                <a:solidFill>
                  <a:schemeClr val="bg1"/>
                </a:solidFill>
              </a:rPr>
              <a:t>&gt;Degradation may cause the loss of valuable visual information used during wafer inspection.</a:t>
            </a:r>
          </a:p>
          <a:p>
            <a:r>
              <a:rPr lang="en-US" sz="1300" dirty="0">
                <a:solidFill>
                  <a:schemeClr val="bg1"/>
                </a:solidFill>
              </a:rPr>
              <a:t>&gt;The challenge is to restore degraded images and recover clear, high quality wafer images.</a:t>
            </a:r>
          </a:p>
          <a:p>
            <a:r>
              <a:rPr lang="en-US" sz="1300" dirty="0">
                <a:solidFill>
                  <a:schemeClr val="bg1"/>
                </a:solidFill>
              </a:rPr>
              <a:t>&gt;Two of our solution consists of acquiring the mapping between a degraded image and a clean ground-truth image by learning the mapping using deep learning.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9F13985-00B4-3FE2-69FB-BA5F884201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2164" y="228650"/>
            <a:ext cx="1607366" cy="783591"/>
          </a:xfrm>
          <a:prstGeom prst="rect">
            <a:avLst/>
          </a:prstGeom>
        </p:spPr>
      </p:pic>
      <p:sp>
        <p:nvSpPr>
          <p:cNvPr id="22" name="Shape 1">
            <a:extLst>
              <a:ext uri="{FF2B5EF4-FFF2-40B4-BE49-F238E27FC236}">
                <a16:creationId xmlns:a16="http://schemas.microsoft.com/office/drawing/2014/main" id="{8B3789FB-4EC6-29BB-8AB4-B514BCE88A9C}"/>
              </a:ext>
            </a:extLst>
          </p:cNvPr>
          <p:cNvSpPr/>
          <p:nvPr/>
        </p:nvSpPr>
        <p:spPr>
          <a:xfrm>
            <a:off x="571500" y="26629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A5626A-1768-0BB6-2B3B-C29607998D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449" y="416814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4" y="1295705"/>
            <a:ext cx="10682936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Idea Description - </a:t>
            </a:r>
            <a:r>
              <a:rPr lang="en-US" sz="2400" b="1" dirty="0" err="1">
                <a:solidFill>
                  <a:schemeClr val="tx2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WaferVision</a:t>
            </a:r>
            <a:endParaRPr lang="en-US" sz="2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876452" y="2063801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1076248" y="2259940"/>
            <a:ext cx="1719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76452" y="2747315"/>
            <a:ext cx="9813341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 err="1">
                <a:solidFill>
                  <a:srgbClr val="AEFF82">
                    <a:alpha val="9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WaferVision</a:t>
            </a:r>
            <a:r>
              <a:rPr lang="en-US" sz="1600" dirty="0">
                <a:solidFill>
                  <a:srgbClr val="AEFF82">
                    <a:alpha val="9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is an image restoration system based on AI that restores clearer high-quality wafer inspection images from degraded inputs through deep learning.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903151" y="3395166"/>
            <a:ext cx="10326596" cy="1143001"/>
          </a:xfrm>
          <a:prstGeom prst="roundRect">
            <a:avLst>
              <a:gd name="adj" fmla="val 8693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8" name="Text 12"/>
          <p:cNvSpPr txBox="1"/>
          <p:nvPr/>
        </p:nvSpPr>
        <p:spPr>
          <a:xfrm>
            <a:off x="1076248" y="3442969"/>
            <a:ext cx="19961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CONCEPT &amp; APPROACH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076248" y="3709060"/>
            <a:ext cx="7677302" cy="707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bg1"/>
                </a:solidFill>
              </a:rPr>
              <a:t>Image-to-image paired learning (</a:t>
            </a:r>
            <a:r>
              <a:rPr lang="en-US" sz="1200" dirty="0" err="1">
                <a:solidFill>
                  <a:schemeClr val="bg1"/>
                </a:solidFill>
              </a:rPr>
              <a:t>NoisyLR</a:t>
            </a:r>
            <a:r>
              <a:rPr lang="en-US" sz="1200" dirty="0">
                <a:solidFill>
                  <a:schemeClr val="bg1"/>
                </a:solidFill>
              </a:rPr>
              <a:t> images and Ground Truth images).</a:t>
            </a:r>
          </a:p>
          <a:p>
            <a:r>
              <a:rPr lang="en-US" sz="1200" dirty="0">
                <a:solidFill>
                  <a:schemeClr val="bg1"/>
                </a:solidFill>
              </a:rPr>
              <a:t>Compact CNN with residual learning for effective feature restoration.</a:t>
            </a:r>
          </a:p>
          <a:p>
            <a:r>
              <a:rPr lang="en-US" sz="1200" dirty="0">
                <a:solidFill>
                  <a:schemeClr val="bg1"/>
                </a:solidFill>
              </a:rPr>
              <a:t>• 2× image restoration from 128×128 input to 256×256 output.</a:t>
            </a:r>
          </a:p>
        </p:txBody>
      </p:sp>
      <p:sp>
        <p:nvSpPr>
          <p:cNvPr id="20" name="Shape 14"/>
          <p:cNvSpPr/>
          <p:nvPr/>
        </p:nvSpPr>
        <p:spPr>
          <a:xfrm>
            <a:off x="900277" y="4671780"/>
            <a:ext cx="10329470" cy="1254101"/>
          </a:xfrm>
          <a:prstGeom prst="roundRect">
            <a:avLst>
              <a:gd name="adj" fmla="val 8693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 txBox="1"/>
          <p:nvPr/>
        </p:nvSpPr>
        <p:spPr>
          <a:xfrm>
            <a:off x="1162201" y="4756506"/>
            <a:ext cx="15480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OVERVIEW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1162202" y="4695617"/>
            <a:ext cx="9862356" cy="1206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 err="1">
                <a:solidFill>
                  <a:schemeClr val="bg1"/>
                </a:solidFill>
              </a:rPr>
              <a:t>WaferVision</a:t>
            </a:r>
            <a:r>
              <a:rPr lang="en-US" sz="1200" dirty="0">
                <a:solidFill>
                  <a:schemeClr val="bg1"/>
                </a:solidFill>
              </a:rPr>
              <a:t> receives the image of a degraded wafer, and applies a trained deep-learning model to improve the image quality. The model is trained on the pair of degraded and ground-truth images, and it can correct the degradation of the image and improve its spatial resolution from 128×128 to 256×256. The restored image is then beamed on an interactive </a:t>
            </a:r>
            <a:r>
              <a:rPr lang="en-US" sz="1200" dirty="0" err="1">
                <a:solidFill>
                  <a:schemeClr val="bg1"/>
                </a:solidFill>
              </a:rPr>
              <a:t>Streamlit</a:t>
            </a:r>
            <a:r>
              <a:rPr lang="en-US" sz="1200" dirty="0">
                <a:solidFill>
                  <a:schemeClr val="bg1"/>
                </a:solidFill>
              </a:rPr>
              <a:t> interface to be inspected and compared.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033FF08-6369-1C95-EB39-A51D568DF0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2164" y="228650"/>
            <a:ext cx="1607366" cy="783591"/>
          </a:xfrm>
          <a:prstGeom prst="rect">
            <a:avLst/>
          </a:prstGeom>
        </p:spPr>
      </p:pic>
      <p:sp>
        <p:nvSpPr>
          <p:cNvPr id="25" name="Shape 1">
            <a:extLst>
              <a:ext uri="{FF2B5EF4-FFF2-40B4-BE49-F238E27FC236}">
                <a16:creationId xmlns:a16="http://schemas.microsoft.com/office/drawing/2014/main" id="{82B7216B-04F1-E2CC-935F-9AA2CE5B9E43}"/>
              </a:ext>
            </a:extLst>
          </p:cNvPr>
          <p:cNvSpPr/>
          <p:nvPr/>
        </p:nvSpPr>
        <p:spPr>
          <a:xfrm>
            <a:off x="571500" y="209602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743FE56-9400-E309-F93C-96E3C8B4AF8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375" y="32938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10296144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Proposed Solution –</a:t>
            </a:r>
            <a:r>
              <a: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WaferVision</a:t>
            </a:r>
            <a:r>
              <a: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Architecture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1104595" y="2583180"/>
            <a:ext cx="2862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10172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dirty="0" err="1">
                <a:solidFill>
                  <a:srgbClr val="92D050"/>
                </a:solidFill>
              </a:rPr>
              <a:t>WaferVision</a:t>
            </a:r>
            <a:r>
              <a:rPr lang="en-IN" dirty="0">
                <a:solidFill>
                  <a:srgbClr val="92D050"/>
                </a:solidFill>
              </a:rPr>
              <a:t> uses a deep-learning-based image restoration pipeline to remove degradation and recover high-quality wafer inspection images.</a:t>
            </a:r>
            <a:endParaRPr lang="en-US" sz="1800" dirty="0">
              <a:solidFill>
                <a:srgbClr val="92D050"/>
              </a:solidFill>
            </a:endParaRPr>
          </a:p>
        </p:txBody>
      </p:sp>
      <p:sp>
        <p:nvSpPr>
          <p:cNvPr id="17" name="Shape 11"/>
          <p:cNvSpPr/>
          <p:nvPr/>
        </p:nvSpPr>
        <p:spPr>
          <a:xfrm>
            <a:off x="961949" y="3983127"/>
            <a:ext cx="10267798" cy="2089869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200607" y="4372661"/>
            <a:ext cx="13670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DETAILS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200607" y="4088283"/>
            <a:ext cx="9934042" cy="1898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chemeClr val="bg2">
                    <a:lumMod val="75000"/>
                  </a:schemeClr>
                </a:solidFill>
              </a:rPr>
              <a:t>The proposed system employs a small CNN with residual learning, which is trained with a pair of degraded and original wafer images. The network is a combination of extracting features in the image, recovering the degraded information with residual blocks, and performing 2× up sampling to produce a 256×256 image from a 128×128 image. A </a:t>
            </a:r>
            <a:r>
              <a:rPr lang="en-US" sz="1300" dirty="0" err="1">
                <a:solidFill>
                  <a:schemeClr val="bg2">
                    <a:lumMod val="75000"/>
                  </a:schemeClr>
                </a:solidFill>
              </a:rPr>
              <a:t>Streamlit</a:t>
            </a:r>
            <a:r>
              <a:rPr lang="en-US" sz="1300" dirty="0">
                <a:solidFill>
                  <a:schemeClr val="bg2">
                    <a:lumMod val="75000"/>
                  </a:schemeClr>
                </a:solidFill>
              </a:rPr>
              <a:t> application has been developed to integrate the model into application for real-time visualization and image-quality evaluation based on PSNR and SSIM.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67D8EB9-0510-8E20-AE50-3B9EC87046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22" name="Shape 1">
            <a:extLst>
              <a:ext uri="{FF2B5EF4-FFF2-40B4-BE49-F238E27FC236}">
                <a16:creationId xmlns:a16="http://schemas.microsoft.com/office/drawing/2014/main" id="{50164B49-38DE-6195-0A8B-DC6EC6DA2457}"/>
              </a:ext>
            </a:extLst>
          </p:cNvPr>
          <p:cNvSpPr/>
          <p:nvPr/>
        </p:nvSpPr>
        <p:spPr>
          <a:xfrm>
            <a:off x="571500" y="142799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8A68BD0-3127-AC0B-80B4-CA2643B37A2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553" y="27666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4986223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Innovation and Uniqueness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1162202" y="2583180"/>
            <a:ext cx="1719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98014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Highlight what makes your idea unique or innovative compared to existing solutions.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61949" y="3845052"/>
            <a:ext cx="5019447" cy="2288329"/>
          </a:xfrm>
          <a:prstGeom prst="roundRect">
            <a:avLst>
              <a:gd name="adj" fmla="val 3412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200607" y="4082796"/>
            <a:ext cx="1271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INNOVATION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162201" y="3983127"/>
            <a:ext cx="4714647" cy="1967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Wafer image restoration based on deep learning super-resolution network using AI.</a:t>
            </a:r>
          </a:p>
          <a:p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The proposed system learns to recover degraded semiconductor inspection images by denoising and recovering fine-spatial details. In a residual learning architecture, feature extraction, residual blocks and 2× super-resolution, high-quality wafer images are reconstructed from degraded images.</a:t>
            </a:r>
          </a:p>
        </p:txBody>
      </p:sp>
      <p:sp>
        <p:nvSpPr>
          <p:cNvPr id="20" name="Shape 14"/>
          <p:cNvSpPr/>
          <p:nvPr/>
        </p:nvSpPr>
        <p:spPr>
          <a:xfrm>
            <a:off x="6210604" y="3845052"/>
            <a:ext cx="5219395" cy="2253082"/>
          </a:xfrm>
          <a:prstGeom prst="roundRect">
            <a:avLst>
              <a:gd name="adj" fmla="val 3412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 txBox="1"/>
          <p:nvPr/>
        </p:nvSpPr>
        <p:spPr>
          <a:xfrm>
            <a:off x="6448349" y="4082796"/>
            <a:ext cx="1901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COMPETITIVE ADVANTAGE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6448348" y="3662328"/>
            <a:ext cx="4886553" cy="228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The system offers actual image quality enhancement and retains a practical inference speed. The model had an average PSNR of 25.2350 dB, an average SSIM of 0.9328 and an average inference time of 50.56 </a:t>
            </a:r>
            <a:r>
              <a:rPr lang="en-US" sz="1200" dirty="0" err="1">
                <a:solidFill>
                  <a:schemeClr val="bg2">
                    <a:lumMod val="75000"/>
                  </a:schemeClr>
                </a:solidFill>
              </a:rPr>
              <a:t>ms</a:t>
            </a:r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 (~19.78 FPS) on 3,200 test images, showcasing a working and scalable semiconductor inspection restoration pipeline.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8B85B4A-4413-5424-84AE-2AF429F27F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8322" y="228650"/>
            <a:ext cx="1607366" cy="783591"/>
          </a:xfrm>
          <a:prstGeom prst="rect">
            <a:avLst/>
          </a:prstGeom>
        </p:spPr>
      </p:pic>
      <p:sp>
        <p:nvSpPr>
          <p:cNvPr id="25" name="Shape 1">
            <a:extLst>
              <a:ext uri="{FF2B5EF4-FFF2-40B4-BE49-F238E27FC236}">
                <a16:creationId xmlns:a16="http://schemas.microsoft.com/office/drawing/2014/main" id="{BB3A3471-21A6-8A80-8399-32E98C63F186}"/>
              </a:ext>
            </a:extLst>
          </p:cNvPr>
          <p:cNvSpPr/>
          <p:nvPr/>
        </p:nvSpPr>
        <p:spPr>
          <a:xfrm>
            <a:off x="571500" y="258065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ADA517E-8996-A444-E540-A2F9B8F98D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929" y="393700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3728923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Impact and Benefits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33856" y="258318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76121" y="3141878"/>
            <a:ext cx="102394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dirty="0">
                <a:solidFill>
                  <a:srgbClr val="92D050"/>
                </a:solidFill>
              </a:rPr>
              <a:t>Our solution improves the quality of degraded semiconductor inspection images by reducing noise and recovering important image details, enabling clearer and more reliable wafer inspection.</a:t>
            </a:r>
            <a:endParaRPr lang="en-US" sz="1800" dirty="0">
              <a:solidFill>
                <a:srgbClr val="92D050"/>
              </a:solidFill>
            </a:endParaRPr>
          </a:p>
        </p:txBody>
      </p:sp>
      <p:sp>
        <p:nvSpPr>
          <p:cNvPr id="17" name="Shape 11"/>
          <p:cNvSpPr/>
          <p:nvPr/>
        </p:nvSpPr>
        <p:spPr>
          <a:xfrm>
            <a:off x="961949" y="4210812"/>
            <a:ext cx="5020056" cy="2008833"/>
          </a:xfrm>
          <a:prstGeom prst="roundRect">
            <a:avLst>
              <a:gd name="adj" fmla="val 4836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200607" y="4486961"/>
            <a:ext cx="152705" cy="15270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466698" y="4448556"/>
            <a:ext cx="13240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Primary Impact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1248917" y="4408125"/>
            <a:ext cx="4780789" cy="1284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chemeClr val="bg2">
                    <a:lumMod val="75000"/>
                  </a:schemeClr>
                </a:solidFill>
              </a:rPr>
              <a:t>The image restoration method based on AI enhances degraded semiconductor inspection images, which can be used to visualize images with reduced noise and defect details. The solution offers end-to-end restoration workflow and realistic inference speed.</a:t>
            </a:r>
          </a:p>
        </p:txBody>
      </p:sp>
      <p:sp>
        <p:nvSpPr>
          <p:cNvPr id="21" name="Shape 14"/>
          <p:cNvSpPr/>
          <p:nvPr/>
        </p:nvSpPr>
        <p:spPr>
          <a:xfrm>
            <a:off x="6260930" y="4210811"/>
            <a:ext cx="5020056" cy="2008833"/>
          </a:xfrm>
          <a:prstGeom prst="roundRect">
            <a:avLst>
              <a:gd name="adj" fmla="val 4836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 l="-33" r="-33"/>
          <a:stretch/>
        </p:blipFill>
        <p:spPr>
          <a:xfrm>
            <a:off x="6448349" y="4486961"/>
            <a:ext cx="171907" cy="152705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734556" y="4448556"/>
            <a:ext cx="19248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Quantifiable Outcomes</a:t>
            </a:r>
            <a:endParaRPr lang="en-US" sz="1200" dirty="0"/>
          </a:p>
        </p:txBody>
      </p:sp>
      <p:sp>
        <p:nvSpPr>
          <p:cNvPr id="24" name="Text 16"/>
          <p:cNvSpPr txBox="1"/>
          <p:nvPr/>
        </p:nvSpPr>
        <p:spPr>
          <a:xfrm>
            <a:off x="6517447" y="4349335"/>
            <a:ext cx="4645221" cy="1754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b="1" dirty="0">
                <a:solidFill>
                  <a:schemeClr val="bg2">
                    <a:lumMod val="75000"/>
                  </a:schemeClr>
                </a:solidFill>
              </a:rPr>
              <a:t>3,200 images tested</a:t>
            </a:r>
            <a:br>
              <a:rPr lang="en-IN" sz="1000" dirty="0">
                <a:solidFill>
                  <a:schemeClr val="bg2">
                    <a:lumMod val="75000"/>
                  </a:schemeClr>
                </a:solidFill>
              </a:rPr>
            </a:br>
            <a:r>
              <a:rPr lang="en-IN" sz="1000" b="1" dirty="0">
                <a:solidFill>
                  <a:schemeClr val="bg2">
                    <a:lumMod val="75000"/>
                  </a:schemeClr>
                </a:solidFill>
              </a:rPr>
              <a:t>Average PSNR:</a:t>
            </a:r>
            <a:r>
              <a:rPr lang="en-IN" sz="1000" dirty="0">
                <a:solidFill>
                  <a:schemeClr val="bg2">
                    <a:lumMod val="75000"/>
                  </a:schemeClr>
                </a:solidFill>
              </a:rPr>
              <a:t> 25.2350 dB</a:t>
            </a:r>
            <a:br>
              <a:rPr lang="en-IN" sz="1000" dirty="0">
                <a:solidFill>
                  <a:schemeClr val="bg2">
                    <a:lumMod val="75000"/>
                  </a:schemeClr>
                </a:solidFill>
              </a:rPr>
            </a:br>
            <a:r>
              <a:rPr lang="en-IN" sz="1000" b="1" dirty="0">
                <a:solidFill>
                  <a:schemeClr val="bg2">
                    <a:lumMod val="75000"/>
                  </a:schemeClr>
                </a:solidFill>
              </a:rPr>
              <a:t>Average SSIM:</a:t>
            </a:r>
            <a:r>
              <a:rPr lang="en-IN" sz="1000" dirty="0">
                <a:solidFill>
                  <a:schemeClr val="bg2">
                    <a:lumMod val="75000"/>
                  </a:schemeClr>
                </a:solidFill>
              </a:rPr>
              <a:t> 0.9328</a:t>
            </a:r>
            <a:br>
              <a:rPr lang="en-IN" sz="1000" dirty="0">
                <a:solidFill>
                  <a:schemeClr val="bg2">
                    <a:lumMod val="75000"/>
                  </a:schemeClr>
                </a:solidFill>
              </a:rPr>
            </a:br>
            <a:r>
              <a:rPr lang="en-IN" sz="1000" b="1" dirty="0">
                <a:solidFill>
                  <a:schemeClr val="bg2">
                    <a:lumMod val="75000"/>
                  </a:schemeClr>
                </a:solidFill>
              </a:rPr>
              <a:t>Average inference time:</a:t>
            </a:r>
            <a:r>
              <a:rPr lang="en-IN" sz="1000" dirty="0">
                <a:solidFill>
                  <a:schemeClr val="bg2">
                    <a:lumMod val="75000"/>
                  </a:schemeClr>
                </a:solidFill>
              </a:rPr>
              <a:t> 50.56 </a:t>
            </a:r>
            <a:r>
              <a:rPr lang="en-IN" sz="1000" dirty="0" err="1">
                <a:solidFill>
                  <a:schemeClr val="bg2">
                    <a:lumMod val="75000"/>
                  </a:schemeClr>
                </a:solidFill>
              </a:rPr>
              <a:t>ms</a:t>
            </a:r>
            <a:r>
              <a:rPr lang="en-IN" sz="1000" dirty="0">
                <a:solidFill>
                  <a:schemeClr val="bg2">
                    <a:lumMod val="75000"/>
                  </a:schemeClr>
                </a:solidFill>
              </a:rPr>
              <a:t>/image</a:t>
            </a:r>
            <a:br>
              <a:rPr lang="en-IN" sz="1000" dirty="0">
                <a:solidFill>
                  <a:schemeClr val="bg2">
                    <a:lumMod val="75000"/>
                  </a:schemeClr>
                </a:solidFill>
              </a:rPr>
            </a:br>
            <a:r>
              <a:rPr lang="en-IN" sz="1000" b="1" dirty="0">
                <a:solidFill>
                  <a:schemeClr val="bg2">
                    <a:lumMod val="75000"/>
                  </a:schemeClr>
                </a:solidFill>
              </a:rPr>
              <a:t>Approx. throughput:</a:t>
            </a:r>
            <a:r>
              <a:rPr lang="en-IN" sz="1000" dirty="0">
                <a:solidFill>
                  <a:schemeClr val="bg2">
                    <a:lumMod val="75000"/>
                  </a:schemeClr>
                </a:solidFill>
              </a:rPr>
              <a:t> 19.78 FPS</a:t>
            </a:r>
            <a:endParaRPr lang="en-US" sz="1000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2A87E08-9934-FBF2-2F29-11A8271B362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06922" y="227710"/>
            <a:ext cx="1607366" cy="783591"/>
          </a:xfrm>
          <a:prstGeom prst="rect">
            <a:avLst/>
          </a:prstGeom>
        </p:spPr>
      </p:pic>
      <p:sp>
        <p:nvSpPr>
          <p:cNvPr id="27" name="Shape 1">
            <a:extLst>
              <a:ext uri="{FF2B5EF4-FFF2-40B4-BE49-F238E27FC236}">
                <a16:creationId xmlns:a16="http://schemas.microsoft.com/office/drawing/2014/main" id="{850BA2BE-D607-619F-6960-A71277019D3B}"/>
              </a:ext>
            </a:extLst>
          </p:cNvPr>
          <p:cNvSpPr/>
          <p:nvPr/>
        </p:nvSpPr>
        <p:spPr>
          <a:xfrm>
            <a:off x="571500" y="209602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5D3E59C-FE74-F0BE-9B10-98C8003398B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859" y="32938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238098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00607"/>
            <a:ext cx="782452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Technology &amp; Feasibility/Methodology Used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1879092"/>
            <a:ext cx="11048695" cy="4695444"/>
          </a:xfrm>
          <a:prstGeom prst="roundRect">
            <a:avLst>
              <a:gd name="adj" fmla="val 63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1879092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1879092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269541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33856" y="2440534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850216" y="2033874"/>
            <a:ext cx="9344254" cy="10113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 err="1">
                <a:solidFill>
                  <a:srgbClr val="AEFF82">
                    <a:alpha val="9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WaferVision</a:t>
            </a:r>
            <a:r>
              <a:rPr lang="en-US" dirty="0">
                <a:solidFill>
                  <a:srgbClr val="AEFF82">
                    <a:alpha val="9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integrates deep-learning based image restoration, paired wafer-image training, quantitative image-quality evaluation and an interactive inference interface to provide an end-to-end semiconductor inspection image restoration workflow.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1762049" y="3238804"/>
            <a:ext cx="9467698" cy="1390137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2000707" y="3332198"/>
            <a:ext cx="20336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IMPLEMENTATION STRATEGY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2000707" y="3616702"/>
            <a:ext cx="8748979" cy="832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 err="1">
                <a:solidFill>
                  <a:schemeClr val="bg2"/>
                </a:solidFill>
              </a:rPr>
              <a:t>WaferVision</a:t>
            </a:r>
            <a:r>
              <a:rPr lang="en-US" sz="1300" dirty="0">
                <a:solidFill>
                  <a:schemeClr val="bg2"/>
                </a:solidFill>
              </a:rPr>
              <a:t> is based on a Pairwise </a:t>
            </a:r>
            <a:r>
              <a:rPr lang="en-US" sz="1300" dirty="0" err="1">
                <a:solidFill>
                  <a:schemeClr val="bg2"/>
                </a:solidFill>
              </a:rPr>
              <a:t>NoisyLR</a:t>
            </a:r>
            <a:r>
              <a:rPr lang="en-US" sz="1300" dirty="0">
                <a:solidFill>
                  <a:schemeClr val="bg2"/>
                </a:solidFill>
              </a:rPr>
              <a:t> images and Ground Truth wafer image using a </a:t>
            </a:r>
            <a:r>
              <a:rPr lang="en-US" sz="1300" dirty="0" err="1">
                <a:solidFill>
                  <a:schemeClr val="bg2"/>
                </a:solidFill>
              </a:rPr>
              <a:t>PyTorch</a:t>
            </a:r>
            <a:r>
              <a:rPr lang="en-US" sz="1300" dirty="0">
                <a:solidFill>
                  <a:schemeClr val="bg2"/>
                </a:solidFill>
              </a:rPr>
              <a:t> residual CNN. The network extracts features from the image, restores the image by adding multiple residual blocks, and </a:t>
            </a:r>
            <a:r>
              <a:rPr lang="en-US" sz="1300" dirty="0" err="1">
                <a:solidFill>
                  <a:schemeClr val="bg2"/>
                </a:solidFill>
              </a:rPr>
              <a:t>upsamples</a:t>
            </a:r>
            <a:r>
              <a:rPr lang="en-US" sz="1300" dirty="0">
                <a:solidFill>
                  <a:schemeClr val="bg2"/>
                </a:solidFill>
              </a:rPr>
              <a:t> it by a factor of 2 to get a higher resolution restored image. The model is tested using PSNR and SSIM and a </a:t>
            </a:r>
            <a:r>
              <a:rPr lang="en-US" sz="1300" dirty="0" err="1">
                <a:solidFill>
                  <a:schemeClr val="bg2"/>
                </a:solidFill>
              </a:rPr>
              <a:t>Streamlit</a:t>
            </a:r>
            <a:r>
              <a:rPr lang="en-US" sz="1300" dirty="0">
                <a:solidFill>
                  <a:schemeClr val="bg2"/>
                </a:solidFill>
              </a:rPr>
              <a:t> interface was created for inference and practical demonstration.</a:t>
            </a:r>
          </a:p>
        </p:txBody>
      </p:sp>
      <p:sp>
        <p:nvSpPr>
          <p:cNvPr id="20" name="Shape 14"/>
          <p:cNvSpPr/>
          <p:nvPr/>
        </p:nvSpPr>
        <p:spPr>
          <a:xfrm>
            <a:off x="1018184" y="4890211"/>
            <a:ext cx="3295498" cy="1586483"/>
          </a:xfrm>
          <a:prstGeom prst="roundRect">
            <a:avLst>
              <a:gd name="adj" fmla="val 7995"/>
            </a:avLst>
          </a:prstGeom>
          <a:solidFill>
            <a:srgbClr val="273383">
              <a:alpha val="4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 t="-45" b="-45"/>
          <a:stretch/>
        </p:blipFill>
        <p:spPr>
          <a:xfrm>
            <a:off x="2452490" y="4980072"/>
            <a:ext cx="256946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861718" y="5749640"/>
            <a:ext cx="1608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Software Architecture</a:t>
            </a:r>
            <a:endParaRPr lang="en-IN" sz="1000" b="1" dirty="0">
              <a:solidFill>
                <a:schemeClr val="bg2"/>
              </a:solidFill>
            </a:endParaRPr>
          </a:p>
          <a:p>
            <a:pPr algn="ctr"/>
            <a:endParaRPr lang="en-IN" sz="1000" b="1" dirty="0">
              <a:solidFill>
                <a:schemeClr val="bg2"/>
              </a:solidFill>
            </a:endParaRPr>
          </a:p>
          <a:p>
            <a:pPr algn="ctr"/>
            <a:r>
              <a:rPr lang="en-IN" sz="1000" b="1" dirty="0">
                <a:solidFill>
                  <a:schemeClr val="bg2"/>
                </a:solidFill>
              </a:rPr>
              <a:t>Python + </a:t>
            </a:r>
            <a:r>
              <a:rPr lang="en-IN" sz="1000" b="1" dirty="0" err="1">
                <a:solidFill>
                  <a:schemeClr val="bg2"/>
                </a:solidFill>
              </a:rPr>
              <a:t>PyTorch</a:t>
            </a:r>
            <a:br>
              <a:rPr lang="en-IN" sz="1000" dirty="0">
                <a:solidFill>
                  <a:schemeClr val="bg2"/>
                </a:solidFill>
              </a:rPr>
            </a:br>
            <a:r>
              <a:rPr lang="en-IN" sz="1000" dirty="0">
                <a:solidFill>
                  <a:schemeClr val="bg2"/>
                </a:solidFill>
              </a:rPr>
              <a:t>Residual CNN</a:t>
            </a:r>
            <a:br>
              <a:rPr lang="en-IN" sz="1000" dirty="0">
                <a:solidFill>
                  <a:schemeClr val="bg2"/>
                </a:solidFill>
              </a:rPr>
            </a:br>
            <a:r>
              <a:rPr lang="en-IN" sz="1000" dirty="0" err="1">
                <a:solidFill>
                  <a:schemeClr val="bg2"/>
                </a:solidFill>
              </a:rPr>
              <a:t>NoisyLR</a:t>
            </a:r>
            <a:r>
              <a:rPr lang="en-IN" sz="1000" dirty="0">
                <a:solidFill>
                  <a:schemeClr val="bg2"/>
                </a:solidFill>
              </a:rPr>
              <a:t> → Feature Extraction → Residual Blocks → 2× </a:t>
            </a:r>
            <a:r>
              <a:rPr lang="en-IN" sz="1000" dirty="0" err="1">
                <a:solidFill>
                  <a:schemeClr val="bg2"/>
                </a:solidFill>
              </a:rPr>
              <a:t>Upsampling</a:t>
            </a:r>
            <a:r>
              <a:rPr lang="en-IN" sz="1000" dirty="0">
                <a:solidFill>
                  <a:schemeClr val="bg2"/>
                </a:solidFill>
              </a:rPr>
              <a:t> → Restored Image</a:t>
            </a:r>
            <a:br>
              <a:rPr lang="en-IN" sz="1000" dirty="0"/>
            </a:br>
            <a:r>
              <a:rPr lang="en-IN" sz="1000" dirty="0">
                <a:solidFill>
                  <a:schemeClr val="bg2"/>
                </a:solidFill>
              </a:rPr>
              <a:t>PSNR + SSIM Evaluation</a:t>
            </a:r>
            <a:endParaRPr lang="en-US" sz="1000" dirty="0">
              <a:solidFill>
                <a:schemeClr val="bg2"/>
              </a:solidFill>
            </a:endParaRPr>
          </a:p>
        </p:txBody>
      </p:sp>
      <p:sp>
        <p:nvSpPr>
          <p:cNvPr id="23" name="Shape 16"/>
          <p:cNvSpPr/>
          <p:nvPr/>
        </p:nvSpPr>
        <p:spPr>
          <a:xfrm>
            <a:off x="4448556" y="4890211"/>
            <a:ext cx="3295498" cy="1586483"/>
          </a:xfrm>
          <a:prstGeom prst="roundRect">
            <a:avLst>
              <a:gd name="adj" fmla="val 7995"/>
            </a:avLst>
          </a:prstGeom>
          <a:solidFill>
            <a:srgbClr val="273383">
              <a:alpha val="4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055692" y="4951995"/>
            <a:ext cx="228600" cy="2286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317700" y="5699579"/>
            <a:ext cx="17227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Hardware Components</a:t>
            </a:r>
          </a:p>
          <a:p>
            <a:pPr marL="0" indent="0" algn="ctr">
              <a:buNone/>
            </a:pPr>
            <a:endParaRPr lang="en-US" sz="1000" dirty="0">
              <a:solidFill>
                <a:srgbClr val="E2E8F0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algn="ctr"/>
            <a:r>
              <a:rPr lang="en-IN" sz="1000" b="1" dirty="0">
                <a:solidFill>
                  <a:schemeClr val="bg2"/>
                </a:solidFill>
              </a:rPr>
              <a:t>CPU-based inference system</a:t>
            </a:r>
            <a:br>
              <a:rPr lang="en-IN" sz="1000" dirty="0">
                <a:solidFill>
                  <a:schemeClr val="bg2"/>
                </a:solidFill>
              </a:rPr>
            </a:br>
            <a:r>
              <a:rPr lang="en-IN" sz="1000" dirty="0">
                <a:solidFill>
                  <a:schemeClr val="bg2"/>
                </a:solidFill>
              </a:rPr>
              <a:t>Input: 128 × 128</a:t>
            </a:r>
            <a:br>
              <a:rPr lang="en-IN" sz="1000" dirty="0">
                <a:solidFill>
                  <a:schemeClr val="bg2"/>
                </a:solidFill>
              </a:rPr>
            </a:br>
            <a:r>
              <a:rPr lang="en-IN" sz="1000" dirty="0">
                <a:solidFill>
                  <a:schemeClr val="bg2"/>
                </a:solidFill>
              </a:rPr>
              <a:t>Output: 256 × 256</a:t>
            </a:r>
            <a:br>
              <a:rPr lang="en-IN" sz="1000" dirty="0">
                <a:solidFill>
                  <a:schemeClr val="bg2"/>
                </a:solidFill>
              </a:rPr>
            </a:br>
            <a:r>
              <a:rPr lang="en-IN" sz="1000" dirty="0">
                <a:solidFill>
                  <a:schemeClr val="bg2"/>
                </a:solidFill>
              </a:rPr>
              <a:t>Local computing environment</a:t>
            </a:r>
            <a:endParaRPr lang="en-US" sz="1000" dirty="0">
              <a:solidFill>
                <a:schemeClr val="bg2"/>
              </a:solidFill>
            </a:endParaRPr>
          </a:p>
        </p:txBody>
      </p:sp>
      <p:sp>
        <p:nvSpPr>
          <p:cNvPr id="26" name="Shape 18"/>
          <p:cNvSpPr/>
          <p:nvPr/>
        </p:nvSpPr>
        <p:spPr>
          <a:xfrm>
            <a:off x="7934249" y="4890211"/>
            <a:ext cx="3295498" cy="1586483"/>
          </a:xfrm>
          <a:prstGeom prst="roundRect">
            <a:avLst>
              <a:gd name="adj" fmla="val 7995"/>
            </a:avLst>
          </a:prstGeom>
          <a:solidFill>
            <a:srgbClr val="273383">
              <a:alpha val="4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353398" y="4940287"/>
            <a:ext cx="228600" cy="22860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8863737" y="5602355"/>
            <a:ext cx="1436522" cy="440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Development Tools</a:t>
            </a:r>
          </a:p>
          <a:p>
            <a:pPr algn="ctr"/>
            <a:endParaRPr lang="en-IN" sz="1000" b="1" dirty="0">
              <a:solidFill>
                <a:schemeClr val="bg2"/>
              </a:solidFill>
            </a:endParaRPr>
          </a:p>
          <a:p>
            <a:pPr algn="ctr"/>
            <a:r>
              <a:rPr lang="en-IN" sz="1000" b="1" dirty="0">
                <a:solidFill>
                  <a:schemeClr val="bg2"/>
                </a:solidFill>
              </a:rPr>
              <a:t>Python 3.10</a:t>
            </a:r>
            <a:br>
              <a:rPr lang="en-IN" sz="1000" dirty="0">
                <a:solidFill>
                  <a:schemeClr val="bg2"/>
                </a:solidFill>
              </a:rPr>
            </a:br>
            <a:r>
              <a:rPr lang="en-IN" sz="1000" b="1" dirty="0" err="1">
                <a:solidFill>
                  <a:schemeClr val="bg2"/>
                </a:solidFill>
              </a:rPr>
              <a:t>PyTorch</a:t>
            </a:r>
            <a:r>
              <a:rPr lang="en-IN" sz="1000" dirty="0">
                <a:solidFill>
                  <a:schemeClr val="bg2"/>
                </a:solidFill>
              </a:rPr>
              <a:t> – Model development</a:t>
            </a:r>
            <a:br>
              <a:rPr lang="en-IN" sz="1000" dirty="0">
                <a:solidFill>
                  <a:schemeClr val="bg2"/>
                </a:solidFill>
              </a:rPr>
            </a:br>
            <a:r>
              <a:rPr lang="en-IN" sz="1000" b="1" dirty="0">
                <a:solidFill>
                  <a:schemeClr val="bg2"/>
                </a:solidFill>
              </a:rPr>
              <a:t>NumPy</a:t>
            </a:r>
            <a:r>
              <a:rPr lang="en-IN" sz="1000" dirty="0">
                <a:solidFill>
                  <a:schemeClr val="bg2"/>
                </a:solidFill>
              </a:rPr>
              <a:t> – Dataset processing</a:t>
            </a:r>
            <a:br>
              <a:rPr lang="en-IN" sz="1000" dirty="0">
                <a:solidFill>
                  <a:schemeClr val="bg2"/>
                </a:solidFill>
              </a:rPr>
            </a:br>
            <a:r>
              <a:rPr lang="en-IN" sz="1000" b="1" dirty="0" err="1">
                <a:solidFill>
                  <a:schemeClr val="bg2"/>
                </a:solidFill>
              </a:rPr>
              <a:t>Streamlit</a:t>
            </a:r>
            <a:r>
              <a:rPr lang="en-IN" sz="1000" dirty="0">
                <a:solidFill>
                  <a:schemeClr val="bg2"/>
                </a:solidFill>
              </a:rPr>
              <a:t> – Interactive</a:t>
            </a:r>
            <a:endParaRPr lang="en-US" sz="1000" dirty="0">
              <a:solidFill>
                <a:schemeClr val="bg2"/>
              </a:solidFill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A9CA506-8684-B4DC-6650-2E5F61A7B03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44743" y="228600"/>
            <a:ext cx="1607366" cy="783591"/>
          </a:xfrm>
          <a:prstGeom prst="rect">
            <a:avLst/>
          </a:prstGeom>
        </p:spPr>
      </p:pic>
      <p:sp>
        <p:nvSpPr>
          <p:cNvPr id="31" name="Shape 1">
            <a:extLst>
              <a:ext uri="{FF2B5EF4-FFF2-40B4-BE49-F238E27FC236}">
                <a16:creationId xmlns:a16="http://schemas.microsoft.com/office/drawing/2014/main" id="{10B6379C-1BCE-6784-4600-934501FC5F97}"/>
              </a:ext>
            </a:extLst>
          </p:cNvPr>
          <p:cNvSpPr/>
          <p:nvPr/>
        </p:nvSpPr>
        <p:spPr>
          <a:xfrm>
            <a:off x="571500" y="240793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D18A824-BCDE-0A33-4245-E3C168F9E6D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378206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360456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 &amp; Video Link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1190549" y="2696566"/>
            <a:ext cx="9810598" cy="1447495"/>
          </a:xfrm>
          <a:prstGeom prst="roundRect">
            <a:avLst>
              <a:gd name="adj" fmla="val 4987"/>
            </a:avLst>
          </a:prstGeom>
          <a:noFill/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1429207" y="3087014"/>
            <a:ext cx="666598" cy="666598"/>
          </a:xfrm>
          <a:prstGeom prst="ellipse">
            <a:avLst/>
          </a:prstGeom>
          <a:solidFill>
            <a:srgbClr val="273383">
              <a:alpha val="60000"/>
            </a:srgbClr>
          </a:solidFill>
          <a:ln w="25400">
            <a:solidFill>
              <a:srgbClr val="AEFF82"/>
            </a:solidFill>
            <a:prstDash val="solid"/>
          </a:ln>
          <a:effectLst>
            <a:outerShdw blurRad="139700" dist="12700" dir="16200000" algn="bl" rotWithShape="0">
              <a:srgbClr val="88E555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l="-237" r="-237"/>
          <a:stretch/>
        </p:blipFill>
        <p:spPr>
          <a:xfrm>
            <a:off x="1595628" y="3248863"/>
            <a:ext cx="333756" cy="3429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400300" y="2934310"/>
            <a:ext cx="2000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 Repository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2400300" y="3315614"/>
            <a:ext cx="8363102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 t="-180" b="-180"/>
          <a:stretch/>
        </p:blipFill>
        <p:spPr>
          <a:xfrm>
            <a:off x="2562149" y="3535070"/>
            <a:ext cx="190195" cy="15270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2866644" y="3487522"/>
            <a:ext cx="4733228" cy="200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i="1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8" action="ppaction://hlinksldjump"/>
              </a:rPr>
              <a:t>https://github.com/Ramlegit07/WAFERVISION.git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1190549" y="4449470"/>
            <a:ext cx="9810598" cy="1447495"/>
          </a:xfrm>
          <a:prstGeom prst="roundRect">
            <a:avLst>
              <a:gd name="adj" fmla="val 4987"/>
            </a:avLst>
          </a:prstGeom>
          <a:noFill/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5"/>
          <p:cNvSpPr/>
          <p:nvPr/>
        </p:nvSpPr>
        <p:spPr>
          <a:xfrm>
            <a:off x="1429207" y="4839919"/>
            <a:ext cx="666598" cy="666598"/>
          </a:xfrm>
          <a:prstGeom prst="ellipse">
            <a:avLst/>
          </a:prstGeom>
          <a:solidFill>
            <a:srgbClr val="273383">
              <a:alpha val="60000"/>
            </a:srgbClr>
          </a:solidFill>
          <a:ln w="25400">
            <a:solidFill>
              <a:srgbClr val="AEFF82"/>
            </a:solidFill>
            <a:prstDash val="solid"/>
          </a:ln>
          <a:effectLst>
            <a:outerShdw blurRad="139700" dist="12700" dir="16200000" algn="bl" rotWithShape="0">
              <a:srgbClr val="88E555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9"/>
          <a:srcRect l="-607" r="-607"/>
          <a:stretch/>
        </p:blipFill>
        <p:spPr>
          <a:xfrm>
            <a:off x="1567282" y="5001768"/>
            <a:ext cx="390449" cy="3429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2400300" y="4687214"/>
            <a:ext cx="30861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Prototype / Simulation Video</a:t>
            </a:r>
            <a:endParaRPr lang="en-US" sz="1500" dirty="0"/>
          </a:p>
        </p:txBody>
      </p:sp>
      <p:sp>
        <p:nvSpPr>
          <p:cNvPr id="25" name="Shape 17"/>
          <p:cNvSpPr/>
          <p:nvPr/>
        </p:nvSpPr>
        <p:spPr>
          <a:xfrm>
            <a:off x="2400300" y="5068519"/>
            <a:ext cx="8363102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10"/>
          <a:srcRect l="-33" r="-33"/>
          <a:stretch/>
        </p:blipFill>
        <p:spPr>
          <a:xfrm>
            <a:off x="2562149" y="5287061"/>
            <a:ext cx="171907" cy="152705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2848356" y="5239512"/>
            <a:ext cx="605332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{Paste your Video Link here showing simulation or working prototype}</a:t>
            </a:r>
            <a:endParaRPr lang="en-US" sz="13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AC5205F-3589-4B54-7039-C1C70523478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30" name="Shape 1">
            <a:extLst>
              <a:ext uri="{FF2B5EF4-FFF2-40B4-BE49-F238E27FC236}">
                <a16:creationId xmlns:a16="http://schemas.microsoft.com/office/drawing/2014/main" id="{89A93441-4E5C-0FCA-6BDD-16AB2E1B711C}"/>
              </a:ext>
            </a:extLst>
          </p:cNvPr>
          <p:cNvSpPr/>
          <p:nvPr/>
        </p:nvSpPr>
        <p:spPr>
          <a:xfrm>
            <a:off x="571500" y="16794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3E0C32B-9271-FA34-86BB-7D95EB5AB34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297181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190549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152144"/>
            <a:ext cx="462412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 and References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1830629"/>
            <a:ext cx="11048695" cy="4743907"/>
          </a:xfrm>
          <a:prstGeom prst="roundRect">
            <a:avLst>
              <a:gd name="adj" fmla="val 61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1830629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1830629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173529"/>
            <a:ext cx="476402" cy="476402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86307" y="2297887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628546" y="2173529"/>
            <a:ext cx="3810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 Background &amp; Methodology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1628546" y="2516429"/>
            <a:ext cx="57012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Briefly describe the research foundation or scientific principles supporting your idea.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1628546" y="2783434"/>
            <a:ext cx="9601200" cy="1067105"/>
          </a:xfrm>
          <a:prstGeom prst="roundRect">
            <a:avLst>
              <a:gd name="adj" fmla="val 6121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3"/>
          <p:cNvSpPr txBox="1"/>
          <p:nvPr/>
        </p:nvSpPr>
        <p:spPr>
          <a:xfrm>
            <a:off x="1790395" y="2945282"/>
            <a:ext cx="55440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{Detail your research findings, theoretical basis, or methodology here...}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961949" y="4155034"/>
            <a:ext cx="476402" cy="476402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1057046" y="4279392"/>
            <a:ext cx="286207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628546" y="4155034"/>
            <a:ext cx="23436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References &amp; Citations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1628546" y="4497934"/>
            <a:ext cx="27678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List key papers, articles, or data sources.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1628546" y="4764938"/>
            <a:ext cx="9601200" cy="1410005"/>
          </a:xfrm>
          <a:prstGeom prst="roundRect">
            <a:avLst>
              <a:gd name="adj" fmla="val 3505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18"/>
          <p:cNvSpPr/>
          <p:nvPr/>
        </p:nvSpPr>
        <p:spPr>
          <a:xfrm>
            <a:off x="1790395" y="5232197"/>
            <a:ext cx="9277502" cy="9144"/>
          </a:xfrm>
          <a:prstGeom prst="rect">
            <a:avLst/>
          </a:prstGeom>
          <a:solidFill>
            <a:srgbClr val="1E40AF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19"/>
          <p:cNvSpPr txBox="1"/>
          <p:nvPr/>
        </p:nvSpPr>
        <p:spPr>
          <a:xfrm>
            <a:off x="1790395" y="4926787"/>
            <a:ext cx="32196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{Ref 1: Title of Paper/Article - Source/URL}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1790395" y="5661050"/>
            <a:ext cx="9277502" cy="9144"/>
          </a:xfrm>
          <a:prstGeom prst="rect">
            <a:avLst/>
          </a:prstGeom>
          <a:solidFill>
            <a:srgbClr val="1E40AF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1"/>
          <p:cNvSpPr txBox="1"/>
          <p:nvPr/>
        </p:nvSpPr>
        <p:spPr>
          <a:xfrm>
            <a:off x="1790395" y="5355641"/>
            <a:ext cx="3258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{Ref 2: Title of Paper/Article - Source/URL}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790395" y="5783580"/>
            <a:ext cx="3258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{Ref 3: Title of Paper/Article - Source/URL}</a:t>
            </a:r>
            <a:endParaRPr lang="en-US" sz="12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35E3709-F1C8-6E84-EA51-720EFCF71B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32" name="Shape 1">
            <a:extLst>
              <a:ext uri="{FF2B5EF4-FFF2-40B4-BE49-F238E27FC236}">
                <a16:creationId xmlns:a16="http://schemas.microsoft.com/office/drawing/2014/main" id="{3E27E131-AC1D-E75C-0267-02565ACC1BC3}"/>
              </a:ext>
            </a:extLst>
          </p:cNvPr>
          <p:cNvSpPr/>
          <p:nvPr/>
        </p:nvSpPr>
        <p:spPr>
          <a:xfrm>
            <a:off x="571500" y="25971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D876DBE-D402-1B41-B952-69F6F5BF98C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390016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2549</TotalTime>
  <Words>1102</Words>
  <Application>Microsoft Office PowerPoint</Application>
  <PresentationFormat>Widescreen</PresentationFormat>
  <Paragraphs>111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Poppins</vt:lpstr>
      <vt:lpstr>ui-monospace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Ramakrishnan K</cp:lastModifiedBy>
  <cp:revision>4</cp:revision>
  <dcterms:created xsi:type="dcterms:W3CDTF">2026-01-15T05:38:47Z</dcterms:created>
  <dcterms:modified xsi:type="dcterms:W3CDTF">2026-08-17T03:01:50Z</dcterms:modified>
</cp:coreProperties>
</file>